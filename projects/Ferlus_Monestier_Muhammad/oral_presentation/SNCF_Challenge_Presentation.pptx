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A8BAD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8B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B2-4293-A335-6D68196E1414}"/>
              </c:ext>
            </c:extLst>
          </c:dPt>
          <c:dPt>
            <c:idx val="1"/>
            <c:invertIfNegative val="0"/>
            <c:bubble3D val="0"/>
            <c:spPr>
              <a:solidFill>
                <a:srgbClr val="A8B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B2-4293-A335-6D68196E1414}"/>
              </c:ext>
            </c:extLst>
          </c:dPt>
          <c:dPt>
            <c:idx val="2"/>
            <c:invertIfNegative val="0"/>
            <c:bubble3D val="0"/>
            <c:spPr>
              <a:solidFill>
                <a:srgbClr val="A8B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B2-4293-A335-6D68196E1414}"/>
              </c:ext>
            </c:extLst>
          </c:dPt>
          <c:dPt>
            <c:idx val="3"/>
            <c:invertIfNegative val="0"/>
            <c:bubble3D val="0"/>
            <c:spPr>
              <a:solidFill>
                <a:srgbClr val="1A8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B2-4293-A335-6D68196E1414}"/>
              </c:ext>
            </c:extLst>
          </c:dPt>
          <c:dPt>
            <c:idx val="4"/>
            <c:invertIfNegative val="0"/>
            <c:bubble3D val="0"/>
            <c:spPr>
              <a:solidFill>
                <a:srgbClr val="E052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B2-4293-A335-6D68196E14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Lasso/Ridge
(GridSearch)</c:v>
                </c:pt>
                <c:pt idx="2">
                  <c:v>Elastic Net</c:v>
                </c:pt>
                <c:pt idx="3">
                  <c:v>Random
Forest</c:v>
                </c:pt>
                <c:pt idx="4">
                  <c:v>XGBoost
+ Optuna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0.86599999999999999</c:v>
                </c:pt>
                <c:pt idx="1">
                  <c:v>0.86299999999999999</c:v>
                </c:pt>
                <c:pt idx="2">
                  <c:v>0.86299999999999999</c:v>
                </c:pt>
                <c:pt idx="3">
                  <c:v>0.81200000000000006</c:v>
                </c:pt>
                <c:pt idx="4">
                  <c:v>0.76400000000000001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B2-4293-A335-6D68196E14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10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18872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18872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8872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19456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19456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20624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20624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20624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21208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21208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21208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21792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21792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22376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22376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22376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22376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229600" y="100584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8229600" y="201168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8229600" y="301752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8229600" y="4023360"/>
            <a:ext cx="54864" cy="54864"/>
          </a:xfrm>
          <a:prstGeom prst="ellipse">
            <a:avLst/>
          </a:prstGeom>
          <a:solidFill>
            <a:srgbClr val="A8BAD4">
              <a:alpha val="30000"/>
            </a:srgbClr>
          </a:solidFill>
          <a:ln w="12700">
            <a:solidFill>
              <a:srgbClr val="A8BA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E05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TRANSILIEN SNCF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SNCF Delay Prediction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Finance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2880360"/>
            <a:ext cx="3200400" cy="36576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Monestier</a:t>
            </a:r>
            <a:r>
              <a:rPr lang="en-US" sz="1400" dirty="0">
                <a:solidFill>
                  <a:srgbClr val="A8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Ferlus - Muhammad</a:t>
            </a:r>
            <a:endParaRPr lang="en-US" sz="14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992B8F8-5A4F-ED10-DF49-856B2B2AB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078" y="2181855"/>
            <a:ext cx="4759412" cy="26771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2296" cy="342900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T1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at station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stop #3, on March 15, 2023.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minutes will this train actually wait compared to its scheduled time?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82296" cy="3429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Formulation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256032" cy="256032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0" y="1545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76672" y="15087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p0q0 = actual wait - scheduled wait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23160"/>
            <a:ext cx="256032" cy="256032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0" y="2414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2377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76672" y="2651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delays of same train &amp; same stations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291840"/>
            <a:ext cx="256032" cy="256032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0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76672" y="3246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672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 in minutes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23060" y="914400"/>
            <a:ext cx="2606040" cy="137160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623060" y="960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667,264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23060" y="1691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2606040" cy="13716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0" y="977705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0" y="162130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832104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/ station / date / stop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identifiers of the trip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37560"/>
            <a:ext cx="8321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p2q0, p3q0, p4q0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of trains T-2, T-3, T-4 at the same station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p0q2, p0q3, p0q4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of train T1 at previous stops (-2, -3, -4)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251960"/>
            <a:ext cx="8321040" cy="411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4297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p0q0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- actual vs scheduled wait time (in minutes)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Cleaning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2296" cy="160020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21208" y="1069848"/>
            <a:ext cx="365760" cy="365760"/>
          </a:xfrm>
          <a:prstGeom prst="ellipse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21208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left-skewed distribution for p3q0 / p4q0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Presence of extreme outliers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82296" cy="16002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956048" y="1069848"/>
            <a:ext cx="365760" cy="365760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56048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069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via PCA + K-Means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463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: 30%  variance explained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= 807 outlier points -&gt; removed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82296" cy="160020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21208" y="2898648"/>
            <a:ext cx="365760" cy="365760"/>
          </a:xfrm>
          <a:prstGeom prst="ellipse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1208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898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Rejected Hypothesis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291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 historical delay &lt;-&gt; current delay?</a:t>
            </a:r>
            <a:endParaRPr lang="en-US" sz="1100" dirty="0"/>
          </a:p>
          <a:p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highly scattered data, weak R-squared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56048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Results (MAE)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68680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971800" cy="192024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9436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Optuna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0.764 min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52160" y="2926080"/>
            <a:ext cx="2971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852160" y="2926080"/>
            <a:ext cx="82296" cy="19202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Strategy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34290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base model
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Refinement per station (&gt;1000 pts)
-&gt; Refinement per (station, stop) (&gt;1000 pts)
-&gt; Fallback to best previous model if worse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667K observations processed, 807 outliers removed via PCA + K-Means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(Optuna): MAE 0.764 vs 0.866 for linear regression 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E05206"/>
          </a:solidFill>
          <a:ln w="12700">
            <a:solidFill>
              <a:srgbClr val="E052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approach: global model -&gt; station -&gt; (station, stop)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309</Words>
  <Application>Microsoft Office PowerPoint</Application>
  <PresentationFormat>Affichage à l'écran (16:9)</PresentationFormat>
  <Paragraphs>68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Transilien SNCF - Delay Prediction</dc:title>
  <dc:subject>PptxGenJS Presentation</dc:subject>
  <dc:creator>PptxGenJS</dc:creator>
  <cp:lastModifiedBy>cyril ferlus</cp:lastModifiedBy>
  <cp:revision>4</cp:revision>
  <dcterms:created xsi:type="dcterms:W3CDTF">2026-04-02T11:58:04Z</dcterms:created>
  <dcterms:modified xsi:type="dcterms:W3CDTF">2026-04-03T05:40:19Z</dcterms:modified>
</cp:coreProperties>
</file>